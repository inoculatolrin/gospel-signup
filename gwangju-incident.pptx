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8120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9200" cy="6858000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119" cy="1332000"/>
          </a:xfrm>
          <a:prstGeom prst="rect">
            <a:avLst/>
          </a:prstGeom>
          <a:solidFill>
            <a:srgbClr val="16100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98000"/>
            <a:ext cx="64800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5F1E8"/>
                </a:solidFill>
                <a:latin typeface="Noto Sans TC"/>
              </a:rPr>
              <a:t>光州事件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917999"/>
            <a:ext cx="1368000" cy="28800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990000"/>
            <a:ext cx="7920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770"/>
                </a:solidFill>
                <a:latin typeface="Noto Sans TC"/>
              </a:rPr>
              <a:t>1980  韓國民主化運動時間軸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1332000"/>
            <a:ext cx="12192119" cy="0"/>
          </a:xfrm>
          <a:prstGeom prst="line">
            <a:avLst/>
          </a:prstGeom>
          <a:ln w="7620">
            <a:solidFill>
              <a:srgbClr val="7A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60000" y="72000"/>
            <a:ext cx="252000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>
                <a:solidFill>
                  <a:srgbClr val="2A0909"/>
                </a:solidFill>
                <a:latin typeface="Noto Sans TC"/>
              </a:rPr>
              <a:t>1980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0000" y="1566000"/>
            <a:ext cx="0" cy="4896000"/>
          </a:xfrm>
          <a:prstGeom prst="line">
            <a:avLst/>
          </a:prstGeom>
          <a:ln w="9525">
            <a:solidFill>
              <a:srgbClr val="443E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749600" y="1515600"/>
            <a:ext cx="100800" cy="100800"/>
          </a:xfrm>
          <a:prstGeom prst="rect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800000" y="1566000.0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52000" y="1422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A8A94"/>
                </a:solidFill>
                <a:latin typeface="Noto Sans TC"/>
              </a:rPr>
              <a:t>1979.10.26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2000" y="1587600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A094"/>
                </a:solidFill>
                <a:latin typeface="Noto Sans TC"/>
              </a:rPr>
              <a:t>二六事件（朴正熙遇刺）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49600" y="2215028"/>
            <a:ext cx="100800" cy="100800"/>
          </a:xfrm>
          <a:prstGeom prst="rect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800000" y="2265428.5714285714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2000" y="2121428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A8A94"/>
                </a:solidFill>
                <a:latin typeface="Noto Sans TC"/>
              </a:rPr>
              <a:t>1979.12.12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2000" y="2287028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A094"/>
                </a:solidFill>
                <a:latin typeface="Noto Sans TC"/>
              </a:rPr>
              <a:t>雙十二政變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9600" y="2914457"/>
            <a:ext cx="100800" cy="100800"/>
          </a:xfrm>
          <a:prstGeom prst="rect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800000" y="2964857.1428571427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52000" y="2820857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A8A94"/>
                </a:solidFill>
                <a:latin typeface="Noto Sans TC"/>
              </a:rPr>
              <a:t>1980.05.14–16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2000" y="2986457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A094"/>
                </a:solidFill>
                <a:latin typeface="Noto Sans TC"/>
              </a:rPr>
              <a:t>漢城之春大遊行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49600" y="3613885"/>
            <a:ext cx="100800" cy="100800"/>
          </a:xfrm>
          <a:prstGeom prst="rect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800000" y="3664285.7142857146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52000" y="3520285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A8A94"/>
                </a:solidFill>
                <a:latin typeface="Noto Sans TC"/>
              </a:rPr>
              <a:t>1980.05.17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2000" y="3685885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A094"/>
                </a:solidFill>
                <a:latin typeface="Noto Sans TC"/>
              </a:rPr>
              <a:t>五一七擴大戒嚴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5200" y="4298914"/>
            <a:ext cx="129600" cy="129600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800000" y="4363714.285714285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052000" y="4219714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F5F1E8"/>
                </a:solidFill>
                <a:latin typeface="Noto Sans TC"/>
              </a:rPr>
              <a:t>1980.05.18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2000" y="4385314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1E8"/>
                </a:solidFill>
                <a:latin typeface="Noto Sans TC"/>
              </a:rPr>
              <a:t>光州民主化運動爆發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5200" y="4998342"/>
            <a:ext cx="129600" cy="129600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800000" y="5063142.857142857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52000" y="4919142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F5F1E8"/>
                </a:solidFill>
                <a:latin typeface="Noto Sans TC"/>
              </a:rPr>
              <a:t>1980.05.21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2000" y="5084742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1E8"/>
                </a:solidFill>
                <a:latin typeface="Noto Sans TC"/>
              </a:rPr>
              <a:t>全羅南道廳前開槍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49600" y="5712171"/>
            <a:ext cx="100800" cy="100800"/>
          </a:xfrm>
          <a:prstGeom prst="rect">
            <a:avLst/>
          </a:prstGeom>
          <a:solidFill>
            <a:srgbClr val="5B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800000" y="5762571.428571429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052000" y="5618571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A8A94"/>
                </a:solidFill>
                <a:latin typeface="Noto Sans TC"/>
              </a:rPr>
              <a:t>1980.05.22–26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2000" y="5784171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A094"/>
                </a:solidFill>
                <a:latin typeface="Noto Sans TC"/>
              </a:rPr>
              <a:t>光州短暫自治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5200" y="6397200"/>
            <a:ext cx="129600" cy="129600"/>
          </a:xfrm>
          <a:prstGeom prst="rect">
            <a:avLst/>
          </a:prstGeom>
          <a:solidFill>
            <a:srgbClr val="7A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800000" y="6462000.0"/>
            <a:ext cx="198000" cy="0.0"/>
          </a:xfrm>
          <a:prstGeom prst="line">
            <a:avLst/>
          </a:prstGeom>
          <a:ln w="6350">
            <a:solidFill>
              <a:srgbClr val="3A3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052000" y="6318000"/>
            <a:ext cx="16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F5F1E8"/>
                </a:solidFill>
                <a:latin typeface="Noto Sans TC"/>
              </a:rPr>
              <a:t>1980.05.27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2000" y="6483600"/>
            <a:ext cx="36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1E8"/>
                </a:solidFill>
                <a:latin typeface="Noto Sans TC"/>
              </a:rPr>
              <a:t>尚武忠正作戰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05665.45" y="1440000"/>
            <a:ext cx="0.0" cy="5022000"/>
          </a:xfrm>
          <a:prstGeom prst="line">
            <a:avLst/>
          </a:prstGeom>
          <a:ln w="7620">
            <a:solidFill>
              <a:srgbClr val="55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723665" y="1332000"/>
            <a:ext cx="5468453" cy="5148000"/>
          </a:xfrm>
          <a:prstGeom prst="rect">
            <a:avLst/>
          </a:prstGeom>
          <a:solidFill>
            <a:srgbClr val="141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7356" y="1846800"/>
            <a:ext cx="3281072" cy="3088800"/>
          </a:xfrm>
          <a:prstGeom prst="rect">
            <a:avLst/>
          </a:prstGeom>
          <a:solidFill>
            <a:srgbClr val="2A201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3665" y="1332000"/>
            <a:ext cx="5468453" cy="514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3034" y="4896001"/>
            <a:ext cx="324000" cy="1007999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61141" y="4536000"/>
            <a:ext cx="432000" cy="1368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98618" y="5004000"/>
            <a:ext cx="288000" cy="900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72040" y="4320000"/>
            <a:ext cx="503999" cy="1584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64201" y="4824000"/>
            <a:ext cx="324000" cy="1080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46993" y="4608000"/>
            <a:ext cx="396000" cy="1296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84469" y="5040000"/>
            <a:ext cx="288000" cy="864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12576" y="4464000"/>
            <a:ext cx="468000" cy="1440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50053" y="4752000"/>
            <a:ext cx="360000" cy="1152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32844" y="4176000"/>
            <a:ext cx="540000" cy="1728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25005" y="4860000"/>
            <a:ext cx="324000" cy="1044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53112" y="4644000"/>
            <a:ext cx="432000" cy="1260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35904" y="4932000"/>
            <a:ext cx="360000" cy="972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809327" y="4716000"/>
            <a:ext cx="396000" cy="11880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23665" y="5904000"/>
            <a:ext cx="5468453" cy="125999"/>
          </a:xfrm>
          <a:prstGeom prst="rect">
            <a:avLst/>
          </a:prstGeom>
          <a:solidFill>
            <a:srgbClr val="090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97088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75488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97853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76253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598618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77018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9938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7778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0014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7854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50091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7931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80167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78007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0244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8084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40320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38160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70397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8237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0473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98313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30550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8390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60626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8466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90703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88543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20779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18619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50856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48696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809327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787727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110092" y="5580001"/>
            <a:ext cx="79200" cy="792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088492" y="5659201"/>
            <a:ext cx="108000" cy="118800"/>
          </a:xfrm>
          <a:prstGeom prst="rect">
            <a:avLst/>
          </a:prstGeom>
          <a:solidFill>
            <a:srgbClr val="0B09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723665" y="5580000"/>
            <a:ext cx="5468453" cy="900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23665" y="5832000"/>
            <a:ext cx="5468453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1E8"/>
                </a:solidFill>
                <a:latin typeface="Noto Sans TC"/>
              </a:rPr>
              <a:t>《我只是個計程車司機》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23665" y="6091200"/>
            <a:ext cx="546845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B6770"/>
                </a:solidFill>
                <a:latin typeface="Noto Sans TC"/>
              </a:rPr>
              <a:t>A Taxi Driver  ｜  韓國電影（2017）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0" y="6480000"/>
            <a:ext cx="12192119" cy="0"/>
          </a:xfrm>
          <a:prstGeom prst="line">
            <a:avLst/>
          </a:prstGeom>
          <a:ln w="7620">
            <a:solidFill>
              <a:srgbClr val="55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0" y="6534000"/>
            <a:ext cx="1219211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887868"/>
                </a:solidFill>
                <a:latin typeface="Noto Sans TC"/>
              </a:rPr>
              <a:t>「民主並非憑空而來，而是有人曾為它流血。」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