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508760"/>
            <a:ext cx="6400800" cy="13716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 i="0">
                <a:solidFill>
                  <a:srgbClr val="F5F1E8"/>
                </a:solidFill>
                <a:latin typeface="Noto Sans TC"/>
              </a:rPr>
              <a:t>光州事件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Noto Sans TC"/>
              </a:rPr>
              <a:t>1980 韓國民主化運動時間軸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3716" cy="4800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4058" y="16459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1979.10.26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465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朴正熙遇刺（10.26事件）</a:t>
            </a:r>
          </a:p>
        </p:txBody>
      </p:sp>
      <p:sp>
        <p:nvSpPr>
          <p:cNvPr id="11" name="Oval 10"/>
          <p:cNvSpPr/>
          <p:nvPr/>
        </p:nvSpPr>
        <p:spPr>
          <a:xfrm>
            <a:off x="464058" y="23317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1979.12.12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323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雙十二政變</a:t>
            </a:r>
          </a:p>
        </p:txBody>
      </p:sp>
      <p:sp>
        <p:nvSpPr>
          <p:cNvPr id="14" name="Oval 13"/>
          <p:cNvSpPr/>
          <p:nvPr/>
        </p:nvSpPr>
        <p:spPr>
          <a:xfrm>
            <a:off x="464058" y="30175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620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1980.05.14–16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181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漢城之春大遊行</a:t>
            </a:r>
          </a:p>
        </p:txBody>
      </p:sp>
      <p:sp>
        <p:nvSpPr>
          <p:cNvPr id="17" name="Oval 16"/>
          <p:cNvSpPr/>
          <p:nvPr/>
        </p:nvSpPr>
        <p:spPr>
          <a:xfrm>
            <a:off x="464058" y="37033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478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1980.05.17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五一七擴大戒嚴</a:t>
            </a:r>
          </a:p>
        </p:txBody>
      </p:sp>
      <p:sp>
        <p:nvSpPr>
          <p:cNvPr id="20" name="Oval 19"/>
          <p:cNvSpPr/>
          <p:nvPr/>
        </p:nvSpPr>
        <p:spPr>
          <a:xfrm>
            <a:off x="464058" y="43891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336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1980.05.18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897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光州民主化運動爆發</a:t>
            </a:r>
          </a:p>
        </p:txBody>
      </p:sp>
      <p:sp>
        <p:nvSpPr>
          <p:cNvPr id="23" name="Oval 22"/>
          <p:cNvSpPr/>
          <p:nvPr/>
        </p:nvSpPr>
        <p:spPr>
          <a:xfrm>
            <a:off x="464058" y="50749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194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1980.05.21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755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全羅南道廳前開槍鎮壓</a:t>
            </a:r>
          </a:p>
        </p:txBody>
      </p:sp>
      <p:sp>
        <p:nvSpPr>
          <p:cNvPr id="26" name="Oval 25"/>
          <p:cNvSpPr/>
          <p:nvPr/>
        </p:nvSpPr>
        <p:spPr>
          <a:xfrm>
            <a:off x="464058" y="57607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052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1980.05.22–26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613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光州短暫自治</a:t>
            </a:r>
          </a:p>
        </p:txBody>
      </p:sp>
      <p:sp>
        <p:nvSpPr>
          <p:cNvPr id="29" name="Oval 28"/>
          <p:cNvSpPr/>
          <p:nvPr/>
        </p:nvSpPr>
        <p:spPr>
          <a:xfrm>
            <a:off x="464058" y="6446520"/>
            <a:ext cx="91440" cy="91440"/>
          </a:xfrm>
          <a:prstGeom prst="ellipse">
            <a:avLst/>
          </a:prstGeom>
          <a:solidFill>
            <a:srgbClr val="7A1F1F"/>
          </a:solidFill>
          <a:ln w="6350"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910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F1E8"/>
                </a:solidFill>
                <a:latin typeface="Noto Sans TC"/>
              </a:rPr>
              <a:t>1980.05.27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47104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5B6770"/>
                </a:solidFill>
                <a:latin typeface="Noto Sans TC"/>
              </a:rPr>
              <a:t>尚武忠正作戰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572768"/>
            <a:ext cx="13716" cy="5029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72768"/>
            <a:ext cx="5120640" cy="448056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720840" y="1572768"/>
            <a:ext cx="5120640" cy="448056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504748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5F1E8"/>
                </a:solidFill>
                <a:latin typeface="Noto Sans TC"/>
              </a:rPr>
              <a:t>《我只是個計程車司機》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4589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Noto Sans TC"/>
              </a:rPr>
              <a:t>《A Taxi Driver》　韓國電影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6217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Noto Sans TC"/>
              </a:rPr>
              <a:t>此片以光州事件為背景，描述一位首爾計程車司機</a:t>
            </a:r>
          </a:p>
          <a:p>
            <a:pPr algn="l"/>
            <a:r>
              <a:rPr sz="1000" b="0">
                <a:solidFill>
                  <a:srgbClr val="5B6770"/>
                </a:solidFill>
                <a:latin typeface="Noto Sans TC"/>
              </a:rPr>
              <a:t>載運德國記者秘密進入光州，目睹鎮壓現場的故事。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373368"/>
            <a:ext cx="11548872" cy="10972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446520"/>
            <a:ext cx="115488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F5F1E8"/>
                </a:solidFill>
                <a:latin typeface="Noto Sans TC"/>
              </a:rPr>
              <a:t>「民主並非憑空而來，而是有人曾為它流血。」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